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AirFlows and Vascular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0175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DB4"/>
                </a:solidFill>
              </a:defRPr>
            </a:pPr>
            <a:r>
              <a:t>Design and operational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Overall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691640" cy="822960"/>
          </a:xfrm>
          <a:prstGeom prst="roundRect">
            <a:avLst/>
          </a:prstGeom>
          <a:solidFill>
            <a:srgbClr val="2C4A6E"/>
          </a:solidFill>
          <a:ln w="12700">
            <a:solidFill>
              <a:srgbClr val="4A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AirFlows</a:t>
            </a:r>
            <a:br/>
            <a:r>
              <a:t>(8080)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234440"/>
            <a:ext cx="1371600" cy="822960"/>
          </a:xfrm>
          <a:prstGeom prst="roundRect">
            <a:avLst/>
          </a:prstGeom>
          <a:solidFill>
            <a:srgbClr val="2C4A6E"/>
          </a:solidFill>
          <a:ln w="12700">
            <a:solidFill>
              <a:srgbClr val="4A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Redis</a:t>
            </a:r>
            <a:br/>
            <a:r>
              <a:t>(broker)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234440"/>
            <a:ext cx="1691640" cy="822960"/>
          </a:xfrm>
          <a:prstGeom prst="roundRect">
            <a:avLst/>
          </a:prstGeom>
          <a:solidFill>
            <a:srgbClr val="2C4A6E"/>
          </a:solidFill>
          <a:ln w="12700">
            <a:solidFill>
              <a:srgbClr val="4A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Vascular</a:t>
            </a:r>
            <a:br/>
            <a:r>
              <a:t>(8000)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23160" y="1645920.0"/>
            <a:ext cx="228600" cy="0.0"/>
          </a:xfrm>
          <a:prstGeom prst="line">
            <a:avLst/>
          </a:prstGeom>
          <a:ln w="25400">
            <a:solidFill>
              <a:srgbClr val="8B9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14800" y="1645920.0"/>
            <a:ext cx="548640" cy="0.0"/>
          </a:xfrm>
          <a:prstGeom prst="line">
            <a:avLst/>
          </a:prstGeom>
          <a:ln w="25400">
            <a:solidFill>
              <a:srgbClr val="8B9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11680" y="2286000"/>
            <a:ext cx="1463040" cy="594360"/>
          </a:xfrm>
          <a:prstGeom prst="roundRect">
            <a:avLst/>
          </a:prstGeom>
          <a:solidFill>
            <a:srgbClr val="2C4A6E"/>
          </a:solidFill>
          <a:ln w="12700">
            <a:solidFill>
              <a:srgbClr val="4A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Grafana (TBC)</a:t>
            </a:r>
            <a:br/>
            <a:r>
              <a:t>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286000"/>
            <a:ext cx="1280160" cy="594360"/>
          </a:xfrm>
          <a:prstGeom prst="roundRect">
            <a:avLst/>
          </a:prstGeom>
          <a:solidFill>
            <a:srgbClr val="2C4A6E"/>
          </a:solidFill>
          <a:ln w="12700">
            <a:solidFill>
              <a:srgbClr val="4A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Loki (TBC)</a:t>
            </a:r>
            <a:br/>
            <a:r>
              <a:t>3100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286000"/>
            <a:ext cx="1463040" cy="594360"/>
          </a:xfrm>
          <a:prstGeom prst="roundRect">
            <a:avLst/>
          </a:prstGeom>
          <a:solidFill>
            <a:srgbClr val="2C4A6E"/>
          </a:solidFill>
          <a:ln w="12700">
            <a:solidFill>
              <a:srgbClr val="4A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Prometheus (TBC)</a:t>
            </a:r>
            <a:br/>
            <a:r>
              <a:t>9090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8046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AirFlows schedules DAGs; Vascular runs API + Celery tasks.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Shared Redis (or HTTP) links the two.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Grafana, Loki, Prometheus (TBC) for metrics, logs,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Ports in use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38404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AirFlows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8080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UI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Vascular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Grafana (TBC)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Dashboards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Loki (TBC)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3100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Logs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Prometheus (TBC)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9090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Metrics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31927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DB4"/>
                </a:solidFill>
              </a:defRPr>
            </a:pPr>
            <a:r>
              <a:t>Redis 6379 internal. TBC = to be confirmed.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AirFlows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DAGs defined in XML (dag_definitions/*.xml).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Three trigger types: HTTP, Celery, Pipeline.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Tags and schedule in XML — no Python DAG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Vascular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FastAPI + Celery workers.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FC pipeline: 6 steps (config → SQL → query → parse → report → email).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Redis: broker and PipelineContext between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FC pipeline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43000" cy="685800"/>
          </a:xfrm>
          <a:prstGeom prst="roundRect">
            <a:avLst/>
          </a:prstGeom>
          <a:solidFill>
            <a:srgbClr val="2C4A6E"/>
          </a:solidFill>
          <a:ln w="12700">
            <a:solidFill>
              <a:srgbClr val="4A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Config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00200" y="1623060.0"/>
            <a:ext cx="109728" cy="0.0"/>
          </a:xfrm>
          <a:prstGeom prst="line">
            <a:avLst/>
          </a:prstGeom>
          <a:ln w="25400">
            <a:solidFill>
              <a:srgbClr val="8B9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709928" y="1280160"/>
            <a:ext cx="1143000" cy="685800"/>
          </a:xfrm>
          <a:prstGeom prst="roundRect">
            <a:avLst/>
          </a:prstGeom>
          <a:solidFill>
            <a:srgbClr val="2C4A6E"/>
          </a:solidFill>
          <a:ln w="12700">
            <a:solidFill>
              <a:srgbClr val="4A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SQL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52928" y="1623060.0"/>
            <a:ext cx="109728" cy="0.0"/>
          </a:xfrm>
          <a:prstGeom prst="line">
            <a:avLst/>
          </a:prstGeom>
          <a:ln w="25400">
            <a:solidFill>
              <a:srgbClr val="8B9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62656" y="1280160"/>
            <a:ext cx="1143000" cy="685800"/>
          </a:xfrm>
          <a:prstGeom prst="roundRect">
            <a:avLst/>
          </a:prstGeom>
          <a:solidFill>
            <a:srgbClr val="2C4A6E"/>
          </a:solidFill>
          <a:ln w="12700">
            <a:solidFill>
              <a:srgbClr val="4A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Query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05656" y="1623060.0"/>
            <a:ext cx="109728" cy="0.0"/>
          </a:xfrm>
          <a:prstGeom prst="line">
            <a:avLst/>
          </a:prstGeom>
          <a:ln w="25400">
            <a:solidFill>
              <a:srgbClr val="8B9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15384" y="1280160"/>
            <a:ext cx="1143000" cy="685800"/>
          </a:xfrm>
          <a:prstGeom prst="roundRect">
            <a:avLst/>
          </a:prstGeom>
          <a:solidFill>
            <a:srgbClr val="2C4A6E"/>
          </a:solidFill>
          <a:ln w="12700">
            <a:solidFill>
              <a:srgbClr val="4A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Parse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58384" y="1623060.0"/>
            <a:ext cx="109728" cy="0.0"/>
          </a:xfrm>
          <a:prstGeom prst="line">
            <a:avLst/>
          </a:prstGeom>
          <a:ln w="25400">
            <a:solidFill>
              <a:srgbClr val="8B9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68112" y="1280160"/>
            <a:ext cx="1143000" cy="685800"/>
          </a:xfrm>
          <a:prstGeom prst="roundRect">
            <a:avLst/>
          </a:prstGeom>
          <a:solidFill>
            <a:srgbClr val="2C4A6E"/>
          </a:solidFill>
          <a:ln w="12700">
            <a:solidFill>
              <a:srgbClr val="4A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Report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11112" y="1623060.0"/>
            <a:ext cx="109728" cy="0.0"/>
          </a:xfrm>
          <a:prstGeom prst="line">
            <a:avLst/>
          </a:prstGeom>
          <a:ln w="25400">
            <a:solidFill>
              <a:srgbClr val="8B9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20840" y="1280160"/>
            <a:ext cx="1143000" cy="685800"/>
          </a:xfrm>
          <a:prstGeom prst="roundRect">
            <a:avLst/>
          </a:prstGeom>
          <a:solidFill>
            <a:srgbClr val="2C4A6E"/>
          </a:solidFill>
          <a:ln w="12700">
            <a:solidFill>
              <a:srgbClr val="4A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Each step: Send task → Wait (sensor). Data via Redis pipeline_key.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Scheduling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45720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When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vascular_fcp_wd_0600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Mon–Fri 06:00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vascular_fcp_wd_07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Mon–Fri 07:04, 07:16, 07:31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vascular_fcp_wd_0900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Mon–Fri 09:00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vascular_fcp_wd_pm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Mon–Fri 13:10–18:40 every 30 min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vascular_fcp_sun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Sun 05:30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55264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DB4"/>
                </a:solidFill>
              </a:defRPr>
            </a:pPr>
            <a:r>
              <a:t>Pipeline params: poke_interval 15s, timeout 3600s, startup_timeout 120s.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Deployment and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Deploy: Docker Compose; config/data-only → volume sync only.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Configs: vascular-configs, vascular-data (Named Volumes).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Monitor: Airflow UI (12 tasks per run), Celery worker, Redis.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Future development (TBC)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Prometheus: metrics (9090). Loki: logs (3100). Grafana: dashboards (3000).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Prometheus → Grafana; Loki → Grafana. One UI for the stack.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AirFlows: XML DAGs, three trigger types, clear ports.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Vascular: FC 6-step pipeline, Redis, Docker + CI.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References: README, OPERATION_GUIDE.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